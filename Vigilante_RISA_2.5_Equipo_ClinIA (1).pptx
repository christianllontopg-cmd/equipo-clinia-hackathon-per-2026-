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3284D"/>
          </a:solidFill>
          <a:ln/>
        </p:spPr>
      </p:sp>
      <p:pic>
        <p:nvPicPr>
          <p:cNvPr id="4" name="Image 0" descr="/root/.claude/uploads/83823d20-50ef-5606-bc5f-f0139b7075a3/207b98e2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407017"/>
            <a:ext cx="4617720" cy="57696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INTERNACIONAL DE INTELIGENCIA ARTIFICIAL · UPADI 2026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868680"/>
            <a:ext cx="672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627632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Inteligente de Señales de Salud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híbrido de reglas, análisis multivariable y ML/SHAP que detecta descompensación clínica temprana en el reto HealthSignal LATAM, priorizando solo las señales que de verdad importan.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40156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CLINIA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799332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7307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Ricardo Llontop Gonzales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128516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05993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Rommel Andres Gonzales Guevara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457700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3891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Xiomara Victoria Torres Tupia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6035040" cy="1183943"/>
          </a:xfrm>
          <a:prstGeom prst="roundRect">
            <a:avLst>
              <a:gd name="adj" fmla="val 6951"/>
            </a:avLst>
          </a:prstGeom>
          <a:solidFill>
            <a:srgbClr val="16274D"/>
          </a:solidFill>
          <a:ln w="9525">
            <a:solidFill>
              <a:srgbClr val="23407A"/>
            </a:solidFill>
            <a:prstDash val="solid"/>
          </a:ln>
        </p:spPr>
      </p:sp>
      <p:pic>
        <p:nvPicPr>
          <p:cNvPr id="17" name="Image 1" descr="/root/.claude/uploads/83823d20-50ef-5606-bc5f-f0139b7075a3/d0bb526f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03520"/>
            <a:ext cx="3246120" cy="7267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51960" y="5074920"/>
            <a:ext cx="2148840" cy="118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oficial verificado ante los organizadores del reto.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 en 4 Capas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crudos dispersos en 13 pasos a una decisión clínica priorizada y auditable.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0686" y="1554480"/>
            <a:ext cx="9450324" cy="5221224"/>
          </a:xfrm>
          <a:prstGeom prst="roundRect">
            <a:avLst>
              <a:gd name="adj" fmla="val 1401"/>
            </a:avLst>
          </a:prstGeom>
          <a:solidFill>
            <a:srgbClr val="0E1B3D"/>
          </a:solidFill>
          <a:ln/>
          <a:effectLst>
            <a:outerShdw sx="100000" sy="100000" kx="0" ky="0" algn="bl" rotWithShape="0" blurRad="127000" dist="50800" dir="5400000">
              <a:srgbClr val="1B2A4A">
                <a:alpha val="18000"/>
              </a:srgbClr>
            </a:outerShdw>
          </a:effectLst>
        </p:spPr>
      </p:sp>
      <p:pic>
        <p:nvPicPr>
          <p:cNvPr id="6" name="Image 0" descr="/root/.claude/uploads/83823d20-50ef-5606-bc5f-f0139b7075a3/757e6f47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838" y="1627632"/>
            <a:ext cx="930402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Razona el Score RISA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qué tan grande es la señal, qué la explica y cuánto confiar en ella.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883664"/>
            <a:ext cx="475488" cy="475488"/>
          </a:xfrm>
          <a:prstGeom prst="ellipse">
            <a:avLst/>
          </a:prstGeom>
          <a:solidFill>
            <a:srgbClr val="16A79A"/>
          </a:solidFill>
          <a:ln/>
        </p:spPr>
      </p:sp>
      <p:pic>
        <p:nvPicPr>
          <p:cNvPr id="7" name="Image 0" descr="/home/claude/risa_deck/assets/icons/sp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2082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505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2798064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del pico, persistencia en el tiempo y coherencia entre variables fisiológicas.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164592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883664"/>
            <a:ext cx="475488" cy="475488"/>
          </a:xfrm>
          <a:prstGeom prst="ellipse">
            <a:avLst/>
          </a:prstGeom>
          <a:solidFill>
            <a:srgbClr val="16A79A"/>
          </a:solidFill>
          <a:ln/>
        </p:spPr>
      </p:sp>
      <p:pic>
        <p:nvPicPr>
          <p:cNvPr id="12" name="Image 1" descr="/home/claude/risa_deck/assets/icons/p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2082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2505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44568" y="2798064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una explicación conocida: ajuste farmacológico, sueño u otro modificador clínico.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65008" y="164592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1883664"/>
            <a:ext cx="475488" cy="475488"/>
          </a:xfrm>
          <a:prstGeom prst="ellipse">
            <a:avLst/>
          </a:prstGeom>
          <a:solidFill>
            <a:srgbClr val="16A79A"/>
          </a:solidFill>
          <a:ln/>
        </p:spPr>
      </p:sp>
      <p:pic>
        <p:nvPicPr>
          <p:cNvPr id="17" name="Image 2" descr="/home/claude/risa_deck/asse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02082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50545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02752" y="2798064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datos y estabilidad de la conexión durante la ventana observada.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776472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0E1B3D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LECTURA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68680" y="43251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 · HIGH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4297680" y="4233672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un diagnóstico automático: significa que magnitud, persistencia, coherencia, contexto y calidad convergieron en una prioridad alta — el dashboard explica por qué la señal merece atención y qué tan confiable es esa lectura.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7F6F3"/>
          </a:solidFill>
          <a:ln/>
        </p:spPr>
      </p:sp>
      <p:sp>
        <p:nvSpPr>
          <p:cNvPr id="25" name="Text 20"/>
          <p:cNvSpPr/>
          <p:nvPr/>
        </p:nvSpPr>
        <p:spPr>
          <a:xfrm>
            <a:off x="868680" y="5760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con datos históricos: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566160" y="5760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de precisión en señales  ·  −45% de falsas alarmas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a los Criterios de Evaluación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de diseño responden directamente a la rúbrica del reto.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1672" cy="1536192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65376"/>
            <a:ext cx="603504" cy="603504"/>
          </a:xfrm>
          <a:prstGeom prst="ellipse">
            <a:avLst/>
          </a:prstGeom>
          <a:solidFill>
            <a:srgbClr val="0E1B3D"/>
          </a:solidFill>
          <a:ln/>
        </p:spPr>
      </p:sp>
      <p:pic>
        <p:nvPicPr>
          <p:cNvPr id="7" name="Image 0" descr="/home/claude/risa_deck/asset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116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1773936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Identificación de Señales de Riesgo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19072" y="2194560"/>
            <a:ext cx="9628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una FC elevada por un medicamento de una FC elevada sin explicación es identificación de señal en su forma más literal: diferenciar comportamientos esperados de situaciones potencialmente relevantes.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91672" cy="1536192"/>
          </a:xfrm>
          <a:prstGeom prst="roundRect">
            <a:avLst>
              <a:gd name="adj" fmla="val 5357"/>
            </a:avLst>
          </a:prstGeom>
          <a:solidFill>
            <a:srgbClr val="E7F6F3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3584448"/>
            <a:ext cx="603504" cy="603504"/>
          </a:xfrm>
          <a:prstGeom prst="ellipse">
            <a:avLst/>
          </a:prstGeom>
          <a:solidFill>
            <a:srgbClr val="0E1B3D"/>
          </a:solidFill>
          <a:ln/>
        </p:spPr>
      </p:sp>
      <p:pic>
        <p:nvPicPr>
          <p:cNvPr id="12" name="Image 1" descr="/home/claude/risa_deck/assets/icons/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73075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19072" y="3493008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Explicabilidad y Trazabilidad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719072" y="3913632"/>
            <a:ext cx="9628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trae su propio veredicto, con razón y fuente citada — medication_administrations.csv o patient_context.csv — y un record_id trazable hasta el dato origen.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010912"/>
            <a:ext cx="11091672" cy="1536192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" y="5303520"/>
            <a:ext cx="603504" cy="603504"/>
          </a:xfrm>
          <a:prstGeom prst="ellipse">
            <a:avLst/>
          </a:prstGeom>
          <a:solidFill>
            <a:srgbClr val="0E1B3D"/>
          </a:solidFill>
          <a:ln/>
        </p:spPr>
      </p:sp>
      <p:pic>
        <p:nvPicPr>
          <p:cNvPr id="17" name="Image 2" descr="/home/claude/risa_deck/assets/icons/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4498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5212080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Innovación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19072" y="5632704"/>
            <a:ext cx="9628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farmacología, comportamiento y vitales para razonar sobre causalidad clínica, no solo detectar anomalías estadísticas: va más allá de lo mínimo que pide el desafío.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3284D"/>
          </a:solidFill>
          <a:ln/>
        </p:spPr>
      </p:sp>
      <p:pic>
        <p:nvPicPr>
          <p:cNvPr id="4" name="Image 0" descr="/root/.claude/uploads/83823d20-50ef-5606-bc5f-f0139b7075a3/207b98e2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5415" y="829803"/>
            <a:ext cx="4160520" cy="51983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16A79A"/>
          </a:solidFill>
          <a:ln/>
        </p:spPr>
      </p:sp>
      <p:pic>
        <p:nvPicPr>
          <p:cNvPr id="6" name="Image 1" descr="/home/claude/risa_deck/assets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73936"/>
            <a:ext cx="338328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468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788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Veámoslo en Acción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61188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Pasamos ahora a la demo en vivo del dashboard interactivo Vigilante RISA 2.5: la consola donde señal, contexto y calidad se convierten en una prioridad clínica accionable.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126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CLINIA  ·  CHRISTIAN LLONTOP  ·  ROMMEL GONZALES  ·  XIOMARA TORRES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2026-08-28T16:19:05Z</dcterms:created>
  <dcterms:modified xsi:type="dcterms:W3CDTF">2026-08-28T16:19:05Z</dcterms:modified>
</cp:coreProperties>
</file>