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77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70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/root/.claude/uploads/83823d20-50ef-5606-bc5f-f0139b7075a3/207b98e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407017"/>
            <a:ext cx="4617720" cy="5769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INTERNACIONAL DE INTELIGENCIA ARTIFICIAL · UPADI 2026</a:t>
            </a:r>
            <a:endParaRPr lang="en-US" sz="1150" dirty="0">
              <a:solidFill>
                <a:srgbClr val="FFFF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672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627632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Inteligente de Señales de Salud</a:t>
            </a:r>
            <a:endParaRPr lang="en-US" sz="1800" b="1" dirty="0"/>
          </a:p>
        </p:txBody>
      </p:sp>
      <p:sp>
        <p:nvSpPr>
          <p:cNvPr id="8" name="Text 5"/>
          <p:cNvSpPr/>
          <p:nvPr/>
        </p:nvSpPr>
        <p:spPr>
          <a:xfrm>
            <a:off x="1072271" y="2221992"/>
            <a:ext cx="52034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híbrido de reglas, análisis multivariable y ML/SHAP que detecta descompensación clínica temprana en el reto HealthSignal LATAM, priorizando solo las señales que de verdad importan.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548640" y="34015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</a:t>
            </a:r>
            <a:endParaRPr lang="en-US" sz="1300" dirty="0">
              <a:solidFill>
                <a:srgbClr val="FFFF00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3799332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77240" y="37307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Ricardo Llontop Gonzales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28516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777240" y="4059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Rommel Andres Gonzales Guevara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457700"/>
            <a:ext cx="82296" cy="8229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777240" y="43891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Xiomara Victoria Torres Tupia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251960" y="5074920"/>
            <a:ext cx="2148840" cy="118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oficial verificado ante los organizadores del reto.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 en 4 Capas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dispersos en 13 pasos a una decisión clínica priorizada y auditable.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0686" y="1554480"/>
            <a:ext cx="9450324" cy="5221224"/>
          </a:xfrm>
          <a:prstGeom prst="roundRect">
            <a:avLst>
              <a:gd name="adj" fmla="val 1401"/>
            </a:avLst>
          </a:prstGeom>
          <a:solidFill>
            <a:srgbClr val="0E1B3D"/>
          </a:solidFill>
          <a:ln/>
          <a:effectLst>
            <a:outerShdw blurRad="127000" dist="508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6" name="Image 0" descr="/root/.claude/uploads/83823d20-50ef-5606-bc5f-f0139b7075a3/757e6f47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38" y="1627632"/>
            <a:ext cx="930402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A LOS EVALUADORES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 del Sistema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dispositivo que capta la señal a la decisión priorizada en el dashboard clínico.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04672" y="1947672"/>
            <a:ext cx="512064" cy="51206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606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&amp; Fuentes de Datos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89864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dispositivos clínicos y registros hospitalarios capturan continuamente signos vitales, medicación y contexto del paciente (patients, devices, encounters, laboratory_results).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69164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62856" y="1947672"/>
            <a:ext cx="512064" cy="51206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848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606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 Armonización Cloud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2856" y="289864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 se consolidan bajo un ID canónico; se homologan unidades y frecuencias, y se tratan nulos, duplicados y outliers antes de cualquier análisis.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65008" y="169164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321040" y="1947672"/>
            <a:ext cx="512064" cy="51206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8483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606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Híbrido de IA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2898648"/>
            <a:ext cx="299008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reglas duras + tendencia, análisis multivariable y modelos ML/SHAP para detectar patrones de riesgo explicables, no solo umbrales aislados.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822960" y="4882896"/>
            <a:ext cx="566928" cy="566928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/home/claude/risa_deck/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0200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6817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para el jurado?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0" y="44805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un modelo de IA clínico solo es tan confiable como los datos que lo alimentan: la armonización y el control de calidad no son un paso técnico secundario, son la base de la explicabilidad y la seguridad del sistema.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FUNCIONAL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Valoración Clínica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Vigilante RISA transforma datos crudos en una alerta clínicamente justificada.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0" y="1837944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risa_deck/assets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94767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79192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integra signos vitales en tiempo real con el historial clínico del paciente.</a:t>
            </a:r>
            <a:endParaRPr lang="en-US" sz="1050" dirty="0"/>
          </a:p>
        </p:txBody>
      </p:sp>
      <p:pic>
        <p:nvPicPr>
          <p:cNvPr id="11" name="Image 1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28" y="240030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12364" y="2345436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3" name="Image 2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28" y="240030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64408" y="169164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0"/>
          <p:cNvSpPr/>
          <p:nvPr/>
        </p:nvSpPr>
        <p:spPr>
          <a:xfrm>
            <a:off x="3465576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093208" y="1837944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3" descr="/home/claude/risa_deck/assets/icons/patte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194767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65576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IDENTIFICADO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465576" y="2679192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tendencia anómala sutil antes de que rompa un umbral tradicional.</a:t>
            </a:r>
            <a:endParaRPr lang="en-US" sz="1050" dirty="0"/>
          </a:p>
        </p:txBody>
      </p:sp>
      <p:pic>
        <p:nvPicPr>
          <p:cNvPr id="20" name="Image 4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400300"/>
            <a:ext cx="256032" cy="25603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628132" y="2345436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5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400300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980176" y="169164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16"/>
          <p:cNvSpPr/>
          <p:nvPr/>
        </p:nvSpPr>
        <p:spPr>
          <a:xfrm>
            <a:off x="6181344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7808976" y="1837944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6" descr="/home/claude/risa_deck/assets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194767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81344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6181344" y="2679192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un nivel de riesgo (ej. 0.716) y activa la alerta correspondiente.</a:t>
            </a:r>
            <a:endParaRPr lang="en-US" sz="1050" dirty="0"/>
          </a:p>
        </p:txBody>
      </p:sp>
      <p:pic>
        <p:nvPicPr>
          <p:cNvPr id="29" name="Image 7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2400300"/>
            <a:ext cx="256032" cy="256032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343900" y="2345436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1" name="Image 8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2400300"/>
            <a:ext cx="256032" cy="256032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8695944" y="1691640"/>
            <a:ext cx="2487168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22"/>
          <p:cNvSpPr/>
          <p:nvPr/>
        </p:nvSpPr>
        <p:spPr>
          <a:xfrm>
            <a:off x="8897112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Shape 23"/>
          <p:cNvSpPr/>
          <p:nvPr/>
        </p:nvSpPr>
        <p:spPr>
          <a:xfrm>
            <a:off x="10524744" y="1837944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5" name="Image 9" descr="/home/claude/risa_deck/assets/icons/evid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4472" y="194767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897112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8897112" y="2679192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expone los factores determinantes que justifican la alerta al personal médico.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48640" y="3767328"/>
            <a:ext cx="11091672" cy="2633472"/>
          </a:xfrm>
          <a:prstGeom prst="roundRect">
            <a:avLst>
              <a:gd name="adj" fmla="val 3125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27"/>
          <p:cNvSpPr/>
          <p:nvPr/>
        </p:nvSpPr>
        <p:spPr>
          <a:xfrm>
            <a:off x="868680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— CONSOLA DE APOYO A LA DECISIÓN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868680" y="4389120"/>
            <a:ext cx="1944014" cy="1719072"/>
          </a:xfrm>
          <a:prstGeom prst="roundRect">
            <a:avLst>
              <a:gd name="adj" fmla="val 3723"/>
            </a:avLst>
          </a:prstGeom>
          <a:solidFill>
            <a:srgbClr val="1830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Text 29"/>
          <p:cNvSpPr/>
          <p:nvPr/>
        </p:nvSpPr>
        <p:spPr>
          <a:xfrm>
            <a:off x="1014984" y="4517136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1014984" y="4773168"/>
            <a:ext cx="165140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AN-042</a:t>
            </a:r>
            <a:endParaRPr lang="en-US" sz="1700" dirty="0"/>
          </a:p>
        </p:txBody>
      </p:sp>
      <p:sp>
        <p:nvSpPr>
          <p:cNvPr id="43" name="Shape 31"/>
          <p:cNvSpPr/>
          <p:nvPr/>
        </p:nvSpPr>
        <p:spPr>
          <a:xfrm>
            <a:off x="2995574" y="4389120"/>
            <a:ext cx="1944014" cy="1719072"/>
          </a:xfrm>
          <a:prstGeom prst="roundRect">
            <a:avLst>
              <a:gd name="adj" fmla="val 3723"/>
            </a:avLst>
          </a:prstGeom>
          <a:solidFill>
            <a:srgbClr val="1830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4" name="Text 32"/>
          <p:cNvSpPr/>
          <p:nvPr/>
        </p:nvSpPr>
        <p:spPr>
          <a:xfrm>
            <a:off x="3141878" y="4517136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3141878" y="4773168"/>
            <a:ext cx="165140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bpm</a:t>
            </a:r>
            <a:endParaRPr lang="en-US" sz="1700" dirty="0"/>
          </a:p>
        </p:txBody>
      </p:sp>
      <p:sp>
        <p:nvSpPr>
          <p:cNvPr id="46" name="Shape 34"/>
          <p:cNvSpPr/>
          <p:nvPr/>
        </p:nvSpPr>
        <p:spPr>
          <a:xfrm>
            <a:off x="5122469" y="4389120"/>
            <a:ext cx="1944014" cy="1719072"/>
          </a:xfrm>
          <a:prstGeom prst="roundRect">
            <a:avLst>
              <a:gd name="adj" fmla="val 3723"/>
            </a:avLst>
          </a:prstGeom>
          <a:solidFill>
            <a:srgbClr val="1830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7" name="Text 35"/>
          <p:cNvSpPr/>
          <p:nvPr/>
        </p:nvSpPr>
        <p:spPr>
          <a:xfrm>
            <a:off x="5268773" y="4517136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5268773" y="4773168"/>
            <a:ext cx="165140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91 %</a:t>
            </a:r>
            <a:endParaRPr lang="en-US" sz="1700" dirty="0"/>
          </a:p>
        </p:txBody>
      </p:sp>
      <p:sp>
        <p:nvSpPr>
          <p:cNvPr id="49" name="Shape 37"/>
          <p:cNvSpPr/>
          <p:nvPr/>
        </p:nvSpPr>
        <p:spPr>
          <a:xfrm>
            <a:off x="7249363" y="4389120"/>
            <a:ext cx="1944014" cy="1719072"/>
          </a:xfrm>
          <a:prstGeom prst="roundRect">
            <a:avLst>
              <a:gd name="adj" fmla="val 3723"/>
            </a:avLst>
          </a:prstGeom>
          <a:solidFill>
            <a:srgbClr val="1830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0" name="Text 38"/>
          <p:cNvSpPr/>
          <p:nvPr/>
        </p:nvSpPr>
        <p:spPr>
          <a:xfrm>
            <a:off x="7395667" y="4517136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DATOS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7395667" y="4773168"/>
            <a:ext cx="165140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97 %</a:t>
            </a:r>
            <a:endParaRPr lang="en-US" sz="1700" dirty="0"/>
          </a:p>
        </p:txBody>
      </p:sp>
      <p:sp>
        <p:nvSpPr>
          <p:cNvPr id="52" name="Shape 40"/>
          <p:cNvSpPr/>
          <p:nvPr/>
        </p:nvSpPr>
        <p:spPr>
          <a:xfrm>
            <a:off x="9376258" y="4389120"/>
            <a:ext cx="1944014" cy="1719072"/>
          </a:xfrm>
          <a:prstGeom prst="roundRect">
            <a:avLst>
              <a:gd name="adj" fmla="val 3723"/>
            </a:avLst>
          </a:prstGeom>
          <a:solidFill>
            <a:srgbClr val="5C2A1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3" name="Text 41"/>
          <p:cNvSpPr/>
          <p:nvPr/>
        </p:nvSpPr>
        <p:spPr>
          <a:xfrm>
            <a:off x="9522562" y="4517136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" dirty="0">
                <a:solidFill>
                  <a:srgbClr val="F3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 SCORE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9522562" y="4773168"/>
            <a:ext cx="165140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 · HIGH</a:t>
            </a:r>
            <a:endParaRPr lang="en-US" sz="1500" dirty="0"/>
          </a:p>
        </p:txBody>
      </p:sp>
      <p:sp>
        <p:nvSpPr>
          <p:cNvPr id="55" name="Text 4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56" name="Text 44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VALIDACIÓN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Métricas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con datos históricos simulados sobre el dataset HealthSignal LATAM.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7568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EN SEÑALES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6168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4846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822960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FALSAS ALARMAS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09160" y="1691640"/>
            <a:ext cx="6931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Evaluación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09160" y="2121408"/>
            <a:ext cx="6931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las pruebas simuladas con datos históricos, el sistema demostró una gran capacidad para filtrar el "ruido" y concentrar la atención clínica en las señales que realmente importan.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2971800"/>
            <a:ext cx="420624" cy="42062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2" descr="/home/claude/risa_deck/assets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0632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76088" y="2990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76088" y="3364992"/>
            <a:ext cx="6364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sensibilidad en la detección de patrones relevantes y gestión inteligente de alertas innecesarias, mitigando la sobrecarga cognitiva del personal — y explicabilidad SHAP en cada predicción del motor de IA.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09160" y="4315968"/>
            <a:ext cx="420624" cy="420624"/>
          </a:xfrm>
          <a:prstGeom prst="ellipse">
            <a:avLst/>
          </a:prstGeom>
          <a:solidFill>
            <a:srgbClr val="C97A1B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/home/claude/risa_deck/assets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4074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76088" y="4334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76088" y="4709160"/>
            <a:ext cx="6364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estricta de una conectividad estable para el análisis predictivo en tiempo real; próxima iteración: modo offline con inferencia local en el dispositivo edge.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Evolución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Vigilante RISA es más que un prototipo de hackathon.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22960" y="2075688"/>
            <a:ext cx="621792" cy="621792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2219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83664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Proactiva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267712"/>
            <a:ext cx="9628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una novedad crítica al transformar el actual sistema de salud de un enfoque puramente reactivo a un modelo predictivo y preventivo.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E7F6F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822960" y="3538728"/>
            <a:ext cx="621792" cy="621792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850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346704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Escalamiento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730752"/>
            <a:ext cx="9628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despliegue en escenarios de telemedicina y monitoreo remoto para áreas rurales de LATAM con escasez de especialistas.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22960" y="5001768"/>
            <a:ext cx="621792" cy="621792"/>
          </a:xfrm>
          <a:prstGeom prst="ellipse">
            <a:avLst/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hosp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14807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809744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 Integración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193792"/>
            <a:ext cx="9628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 natural es la integración bidireccional profunda con los Sistemas de Historias Clínicas Electrónicas (EHR).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COMPONENTES QUE DESCRIBEN LA SEÑAL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Score de Riesgo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de Vigilante RISA no es un número arbitrario: combina tres dimensiones objetivas de la señal fisiológica.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768096" y="1773936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sp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Inestabilidad Pico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2670048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la magnitud de la desviación máxima observada respecto al rango fisiológico de referencia del paciente: a mayor pico, mayor urgencia potencial.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55448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26280" y="1773936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1109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26280" y="2670048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cuánto tiempo se sostiene el comportamiento anómalo en la ventana analizada: una desviación sostenida pesa más que un valor aislado y pasajero.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65008" y="1554480"/>
            <a:ext cx="3502152" cy="2084832"/>
          </a:xfrm>
          <a:prstGeom prst="roundRect">
            <a:avLst>
              <a:gd name="adj" fmla="val 438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8284464" y="1773936"/>
            <a:ext cx="457200" cy="45720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91109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4464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Vars. Coherentes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84464" y="2670048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variables fisiológicas distintas se mueven de forma coordinada, confirmando que el patrón es real y no ruido de un único sensor.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6"/>
          <p:cNvSpPr/>
          <p:nvPr/>
        </p:nvSpPr>
        <p:spPr>
          <a:xfrm>
            <a:off x="822960" y="4023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65176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grande es la desviación?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2960" y="48188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651760" y="4818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puntual o se mantiene en el tiempo?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2960" y="52029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651760" y="5202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mueve una sola variable, o varias a la vez?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589520" y="4343400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4"/>
          <p:cNvSpPr/>
          <p:nvPr/>
        </p:nvSpPr>
        <p:spPr>
          <a:xfrm>
            <a:off x="7818120" y="44622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Clínicamente Relevante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818120" y="4800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resume estas tres dimensiones; por sí solo no equivale a un diagnóstico.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MODIFICADORES Y CALIDAD DE LA 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Confiar en la Señal?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componentes contextualizan la señal y ayudan a interpretar cuánto confiar en ella.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713232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/home/claude/risa_deck/assets/icons/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128016" cy="128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67712"/>
            <a:ext cx="139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Fármaco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13232" y="2560320"/>
            <a:ext cx="13975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Atenúa la señal cuando existe una explicación farmacológica compatible con la variación observada.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421636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2586228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/home/claude/risa_deck/assets/icons/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388" y="1856232"/>
            <a:ext cx="128016" cy="1280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86228" y="2267712"/>
            <a:ext cx="139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Agravado · Sueño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2586228" y="2560320"/>
            <a:ext cx="13975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el riesgo según el contexto circadiano o de sueño identificado durante la observación.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4294632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2"/>
          <p:cNvSpPr/>
          <p:nvPr/>
        </p:nvSpPr>
        <p:spPr>
          <a:xfrm>
            <a:off x="4459224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2" descr="/home/claude/risa_deck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384" y="1856232"/>
            <a:ext cx="128016" cy="1280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59224" y="2267712"/>
            <a:ext cx="139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Calidad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4459224" y="2560320"/>
            <a:ext cx="13975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 confiabilidad técnica de la señal considerando la calidad de los datos disponibles.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6167628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6"/>
          <p:cNvSpPr/>
          <p:nvPr/>
        </p:nvSpPr>
        <p:spPr>
          <a:xfrm>
            <a:off x="6332220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3" descr="/home/claude/risa_deck/assets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1856232"/>
            <a:ext cx="128016" cy="1280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32220" y="2267712"/>
            <a:ext cx="139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Datos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6332220" y="2560320"/>
            <a:ext cx="13975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proporción de la ventana de análisis cuenta con datos disponibles para sustentar la lectura.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8040624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20"/>
          <p:cNvSpPr/>
          <p:nvPr/>
        </p:nvSpPr>
        <p:spPr>
          <a:xfrm>
            <a:off x="8205216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7" name="Image 4" descr="/home/claude/risa_deck/assets/icons/wifio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2376" y="1856232"/>
            <a:ext cx="128016" cy="1280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05216" y="2267712"/>
            <a:ext cx="1397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Conect.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8205216" y="2560320"/>
            <a:ext cx="13975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interrupciones o pérdida de conectividad que pueden afectar la continuidad del monitoreo.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9913620" y="1554480"/>
            <a:ext cx="1726692" cy="2331720"/>
          </a:xfrm>
          <a:prstGeom prst="roundRect">
            <a:avLst>
              <a:gd name="adj" fmla="val 5296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Shape 24"/>
          <p:cNvSpPr/>
          <p:nvPr/>
        </p:nvSpPr>
        <p:spPr>
          <a:xfrm>
            <a:off x="10078212" y="1719072"/>
            <a:ext cx="402336" cy="402336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5" descr="/home/claude/risa_deck/assets/icons/sparkl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508" y="180136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78212" y="2194560"/>
            <a:ext cx="1397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0078212" y="2468880"/>
            <a:ext cx="13975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no es la señal: es la confianza que podemos tener en la señal.</a:t>
            </a:r>
            <a:endParaRPr lang="en-US" sz="980" dirty="0"/>
          </a:p>
        </p:txBody>
      </p:sp>
      <p:sp>
        <p:nvSpPr>
          <p:cNvPr id="35" name="Shape 27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7F6F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28"/>
          <p:cNvSpPr/>
          <p:nvPr/>
        </p:nvSpPr>
        <p:spPr>
          <a:xfrm>
            <a:off x="86868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conceptual →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291840" y="41605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posible  +  contexto  +  calidad de datos  =  interpretación más robusta del riesgo.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¿CÓMO LEER EL SCORE EN EL DASHBOARD?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 la Prioridad Clínica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final es la síntesis visual de señal, contexto y confiabilidad.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487168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32304" y="1764792"/>
            <a:ext cx="420624" cy="42062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/home/claude/risa_deck/assets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85623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2311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5420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desviaciones y patrones</a:t>
            </a:r>
            <a:endParaRPr lang="en-US" sz="1050" dirty="0"/>
          </a:p>
        </p:txBody>
      </p:sp>
      <p:pic>
        <p:nvPicPr>
          <p:cNvPr id="11" name="Image 1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28" y="2130552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12364" y="2075688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3" name="Image 2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28" y="2130552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64408" y="1627632"/>
            <a:ext cx="2487168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0"/>
          <p:cNvSpPr/>
          <p:nvPr/>
        </p:nvSpPr>
        <p:spPr>
          <a:xfrm>
            <a:off x="3447288" y="1755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148072" y="1764792"/>
            <a:ext cx="420624" cy="42062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7" name="Image 3" descr="/home/claude/risa_deck/assets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85623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47288" y="22311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3447288" y="25420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explicaciones y modificadores</a:t>
            </a:r>
            <a:endParaRPr lang="en-US" sz="1050" dirty="0"/>
          </a:p>
        </p:txBody>
      </p:sp>
      <p:pic>
        <p:nvPicPr>
          <p:cNvPr id="20" name="Image 4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130552"/>
            <a:ext cx="256032" cy="25603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628132" y="2075688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5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2130552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980176" y="1627632"/>
            <a:ext cx="2487168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16"/>
          <p:cNvSpPr/>
          <p:nvPr/>
        </p:nvSpPr>
        <p:spPr>
          <a:xfrm>
            <a:off x="6163056" y="1755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7863840" y="1764792"/>
            <a:ext cx="420624" cy="42062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6" descr="/home/claude/risa_deck/assets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85623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63056" y="22311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6163056" y="25420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cobertura y continuidad</a:t>
            </a:r>
            <a:endParaRPr lang="en-US" sz="1050" dirty="0"/>
          </a:p>
        </p:txBody>
      </p:sp>
      <p:pic>
        <p:nvPicPr>
          <p:cNvPr id="29" name="Image 7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2130552"/>
            <a:ext cx="256032" cy="256032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343900" y="2075688"/>
            <a:ext cx="365760" cy="36576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1" name="Image 8" descr="/home/claude/risa_deck/assets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2130552"/>
            <a:ext cx="256032" cy="256032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8695944" y="1627632"/>
            <a:ext cx="2487168" cy="1600200"/>
          </a:xfrm>
          <a:prstGeom prst="roundRect">
            <a:avLst>
              <a:gd name="adj" fmla="val 5143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22"/>
          <p:cNvSpPr/>
          <p:nvPr/>
        </p:nvSpPr>
        <p:spPr>
          <a:xfrm>
            <a:off x="8878824" y="1755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3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34" name="Shape 23"/>
          <p:cNvSpPr/>
          <p:nvPr/>
        </p:nvSpPr>
        <p:spPr>
          <a:xfrm>
            <a:off x="10579608" y="1764792"/>
            <a:ext cx="420624" cy="420624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5" name="Image 9" descr="/home/claude/risa_deck/assets/icons/check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1048" y="185623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878824" y="22311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8878824" y="25420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 en un nivel de riesgo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48640" y="3502152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0E1B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27"/>
          <p:cNvSpPr/>
          <p:nvPr/>
        </p:nvSpPr>
        <p:spPr>
          <a:xfrm>
            <a:off x="868680" y="3685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LECTURA DEL DASHBOARD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868680" y="40507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 · HIGH</a:t>
            </a:r>
            <a:endParaRPr lang="en-US" sz="3000" dirty="0"/>
          </a:p>
        </p:txBody>
      </p:sp>
      <p:sp>
        <p:nvSpPr>
          <p:cNvPr id="41" name="Text 29"/>
          <p:cNvSpPr/>
          <p:nvPr/>
        </p:nvSpPr>
        <p:spPr>
          <a:xfrm>
            <a:off x="4206240" y="40050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debe interpretarse como "un diagnóstico".</a:t>
            </a:r>
            <a:endParaRPr lang="en-US" sz="1300" dirty="0"/>
          </a:p>
        </p:txBody>
      </p:sp>
      <p:sp>
        <p:nvSpPr>
          <p:cNvPr id="42" name="Text 30"/>
          <p:cNvSpPr/>
          <p:nvPr/>
        </p:nvSpPr>
        <p:spPr>
          <a:xfrm>
            <a:off x="4206240" y="437083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la combinación de magnitud, persistencia, coherencia, contexto y calidad ha llevado la señal a una prioridad alta para revisión profesional.</a:t>
            </a:r>
            <a:endParaRPr lang="en-US" sz="1150" dirty="0"/>
          </a:p>
        </p:txBody>
      </p:sp>
      <p:sp>
        <p:nvSpPr>
          <p:cNvPr id="43" name="Shape 31"/>
          <p:cNvSpPr/>
          <p:nvPr/>
        </p:nvSpPr>
        <p:spPr>
          <a:xfrm>
            <a:off x="548640" y="5404104"/>
            <a:ext cx="11091672" cy="594360"/>
          </a:xfrm>
          <a:prstGeom prst="roundRect">
            <a:avLst>
              <a:gd name="adj" fmla="val 13846"/>
            </a:avLst>
          </a:prstGeom>
          <a:solidFill>
            <a:srgbClr val="E7F6F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4" name="Text 32"/>
          <p:cNvSpPr/>
          <p:nvPr/>
        </p:nvSpPr>
        <p:spPr>
          <a:xfrm>
            <a:off x="868680" y="54041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CENTRAL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2743200" y="54041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no solo muestra variables: explica por qué una señal merece atención y qué tan confiable es.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47" name="Text 35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3284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/root/.claude/uploads/83823d20-50ef-5606-bc5f-f0139b7075a3/207b98e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15" y="829803"/>
            <a:ext cx="4160520" cy="51983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16A79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1" descr="/home/claude/risa_deck/assets/icons/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773936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468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6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788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Veámoslo en Acción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61188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Pasamos ahora a la demo en vivo del dashboard interactivo Vigilante RISA 2.5: la consola donde señal, contexto y calidad se convierten en una prioridad clínica accionable.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126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8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CLINIA  ·  CHRISTIAN LLONTOP  ·  ROMMEL GONZALES  ·  XIOMARA TORRES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VIGILANTE RISA 2.5  ·  EQUIPO CLINIA  ·  HEALTHSIGNAL LATAM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24128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1207</Words>
  <Application>Microsoft Office PowerPoint</Application>
  <PresentationFormat>Panorámica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Christian Llontop</cp:lastModifiedBy>
  <cp:revision>2</cp:revision>
  <dcterms:created xsi:type="dcterms:W3CDTF">2026-08-28T15:42:05Z</dcterms:created>
  <dcterms:modified xsi:type="dcterms:W3CDTF">2026-08-29T09:09:27Z</dcterms:modified>
</cp:coreProperties>
</file>